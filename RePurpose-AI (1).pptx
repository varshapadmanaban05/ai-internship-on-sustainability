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abin"/>
      <p:regular r:id="rId201314"/>
    </p:embeddedFont>
    <p:embeddedFont>
      <p:font typeface="Cabin SemiBold"/>
      <p:regular r:id="rId201315"/>
    </p:embeddedFont>
    <p:embeddedFont>
      <p:font typeface="Cabin Bold"/>
      <p:regular r:id="rId201316"/>
    </p:embeddedFont>
    <p:embeddedFont>
      <p:font typeface="Unbounded"/>
      <p:regular r:id="rId201317"/>
    </p:embeddedFont>
    <p:embeddedFont>
      <p:font typeface="Unbounded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0B3A48"/>
          </a:solidFill>
          <a:ln/>
        </p:spPr>
      </p:sp>
      <p:sp>
        <p:nvSpPr>
          <p:cNvPr id="3" name="Text 1"/>
          <p:cNvSpPr/>
          <p:nvPr/>
        </p:nvSpPr>
        <p:spPr>
          <a:xfrm>
            <a:off x="533387" y="2719784"/>
            <a:ext cx="67816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CIRCULAR DECISION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387" y="2976959"/>
            <a:ext cx="6248244" cy="67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RePurpose 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33387" y="3853755"/>
            <a:ext cx="678163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Make circular economy decisions accessible to everyone.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163746"/>
          </a:solidFill>
          <a:ln/>
        </p:spPr>
      </p:sp>
      <p:sp>
        <p:nvSpPr>
          <p:cNvPr id="7" name="Text 5"/>
          <p:cNvSpPr/>
          <p:nvPr/>
        </p:nvSpPr>
        <p:spPr>
          <a:xfrm>
            <a:off x="7746806" y="647898"/>
            <a:ext cx="40131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1400"/>
              </a:spcAft>
              <a:buNone/>
            </a:pPr>
            <a:endParaRPr lang="en-US" sz="1100" dirty="0"/>
          </a:p>
          <a:p>
            <a:pPr algn="l" indent="0" marL="0">
              <a:lnSpc>
                <a:spcPct val="104000"/>
              </a:lnSpc>
              <a:spcAft>
                <a:spcPts val="1400"/>
              </a:spcAft>
              <a:buNone/>
            </a:pPr>
            <a:endParaRPr lang="en-US" sz="1100" dirty="0"/>
          </a:p>
          <a:p>
            <a:pPr algn="l" indent="0" marL="0">
              <a:lnSpc>
                <a:spcPct val="104000"/>
              </a:lnSpc>
              <a:spcAft>
                <a:spcPts val="1400"/>
              </a:spcAft>
              <a:buNone/>
            </a:pPr>
            <a:endParaRPr lang="en-US" sz="1100" dirty="0"/>
          </a:p>
          <a:p>
            <a:pPr algn="l" indent="0" marL="0">
              <a:lnSpc>
                <a:spcPct val="104000"/>
              </a:lnSpc>
              <a:spcAft>
                <a:spcPts val="1400"/>
              </a:spcAft>
              <a:buNone/>
            </a:pPr>
            <a:endParaRPr lang="en-US" sz="1100" dirty="0"/>
          </a:p>
          <a:p>
            <a:pPr algn="l" indent="0" marL="0">
              <a:lnSpc>
                <a:spcPct val="104000"/>
              </a:lnSpc>
              <a:spcAft>
                <a:spcPts val="1400"/>
              </a:spcAft>
              <a:buNone/>
            </a:pPr>
            <a:endParaRPr lang="en-US" sz="1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FROM UNWANTED ITEM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46806" y="2849761"/>
            <a:ext cx="1324140" cy="31651"/>
          </a:xfrm>
          <a:prstGeom prst="roundRect">
            <a:avLst>
              <a:gd name="adj" fmla="val 49998"/>
            </a:avLst>
          </a:prstGeom>
          <a:solidFill>
            <a:srgbClr val="43D4C3"/>
          </a:solidFill>
          <a:ln/>
        </p:spPr>
      </p:sp>
      <p:sp>
        <p:nvSpPr>
          <p:cNvPr id="9" name="Text 7"/>
          <p:cNvSpPr/>
          <p:nvPr/>
        </p:nvSpPr>
        <p:spPr>
          <a:xfrm>
            <a:off x="7746806" y="3114873"/>
            <a:ext cx="444488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6F05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→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safer, higher-value next action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46806" y="3583484"/>
            <a:ext cx="444488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SDG 12 · everyday decision support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46806" y="3934321"/>
            <a:ext cx="4013100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NAME : VARSHA P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COLLEGE: KALASALINGAM ACADEMY OF RESEARCH AND EDUCATION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81000"/>
            <a:ext cx="1165830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638175"/>
            <a:ext cx="11124922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spc="-40" kern="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Most unwanted items still have a better next step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2965252"/>
            <a:ext cx="4470288" cy="3892748"/>
          </a:xfrm>
          <a:prstGeom prst="rect">
            <a:avLst/>
          </a:prstGeom>
          <a:solidFill>
            <a:srgbClr val="0B3A48"/>
          </a:solidFill>
          <a:ln/>
        </p:spPr>
      </p:sp>
      <p:sp>
        <p:nvSpPr>
          <p:cNvPr id="5" name="Text 3"/>
          <p:cNvSpPr/>
          <p:nvPr/>
        </p:nvSpPr>
        <p:spPr>
          <a:xfrm>
            <a:off x="380990" y="4008834"/>
            <a:ext cx="408929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MUNICIPAL SOLID WASTE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0990" y="4266009"/>
            <a:ext cx="3708307" cy="67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2.01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80990" y="5123755"/>
            <a:ext cx="3708307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billion tonnes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0990" y="5647730"/>
            <a:ext cx="4089298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generated annually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02077" y="3270052"/>
            <a:ext cx="2285943" cy="19050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10" name="Text 8"/>
          <p:cNvSpPr/>
          <p:nvPr/>
        </p:nvSpPr>
        <p:spPr>
          <a:xfrm>
            <a:off x="5105272" y="3441502"/>
            <a:ext cx="208274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01 · ITEM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05272" y="3698677"/>
            <a:ext cx="1879553" cy="1133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Plain-language description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105272" y="4978499"/>
            <a:ext cx="1879553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People discard reusable, repairable, or donatable items because the right action is unclear.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88020" y="3270052"/>
            <a:ext cx="2285943" cy="19050"/>
          </a:xfrm>
          <a:prstGeom prst="rect">
            <a:avLst/>
          </a:prstGeom>
          <a:solidFill>
            <a:srgbClr val="C6F05A"/>
          </a:solidFill>
          <a:ln/>
        </p:spPr>
      </p:sp>
      <p:sp>
        <p:nvSpPr>
          <p:cNvPr id="14" name="Text 12"/>
          <p:cNvSpPr/>
          <p:nvPr/>
        </p:nvSpPr>
        <p:spPr>
          <a:xfrm>
            <a:off x="7391215" y="3441502"/>
            <a:ext cx="208274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02 · ACTION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91215" y="3698677"/>
            <a:ext cx="1879553" cy="1133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Actionable recommendation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391215" y="4978499"/>
            <a:ext cx="1879553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RePurpose AI turns a plain-language item description into an actionable, cited recommendation.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473963" y="3270052"/>
            <a:ext cx="2285943" cy="19050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18" name="Text 16"/>
          <p:cNvSpPr/>
          <p:nvPr/>
        </p:nvSpPr>
        <p:spPr>
          <a:xfrm>
            <a:off x="9677158" y="3441502"/>
            <a:ext cx="208274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03 · PATH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77158" y="3698677"/>
            <a:ext cx="1879553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Next action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677158" y="4222651"/>
            <a:ext cx="1879553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Reuse · repair · donate · recycle · responsible disposal.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81670" y="3270052"/>
            <a:ext cx="12700" cy="3283148"/>
          </a:xfrm>
          <a:prstGeom prst="rect">
            <a:avLst/>
          </a:prstGeom>
          <a:solidFill>
            <a:srgbClr val="31515E"/>
          </a:solidFill>
          <a:ln/>
        </p:spPr>
      </p:sp>
      <p:sp>
        <p:nvSpPr>
          <p:cNvPr id="22" name="Shape 20"/>
          <p:cNvSpPr/>
          <p:nvPr/>
        </p:nvSpPr>
        <p:spPr>
          <a:xfrm>
            <a:off x="9467613" y="3270052"/>
            <a:ext cx="12700" cy="3283148"/>
          </a:xfrm>
          <a:prstGeom prst="rect">
            <a:avLst/>
          </a:prstGeom>
          <a:solidFill>
            <a:srgbClr val="31515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81000"/>
            <a:ext cx="1165830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ONE QUESTION, MANY CONTEXTS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638175"/>
            <a:ext cx="11124922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spc="-40" kern="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One decision engine can serve every kind of unwanted item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33387" y="2421037"/>
            <a:ext cx="11124922" cy="1246287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2855218"/>
            <a:ext cx="10667733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What should I do with this?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3387" y="3972123"/>
            <a:ext cx="2552636" cy="1246287"/>
          </a:xfrm>
          <a:prstGeom prst="rect">
            <a:avLst/>
          </a:prstGeom>
          <a:solidFill>
            <a:srgbClr val="163746"/>
          </a:solidFill>
          <a:ln/>
        </p:spPr>
      </p:sp>
      <p:sp>
        <p:nvSpPr>
          <p:cNvPr id="7" name="Text 5"/>
          <p:cNvSpPr/>
          <p:nvPr/>
        </p:nvSpPr>
        <p:spPr>
          <a:xfrm>
            <a:off x="660383" y="4266704"/>
            <a:ext cx="2298642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Households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387" y="4664670"/>
            <a:ext cx="255263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Everyday unwanted items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90815" y="3972123"/>
            <a:ext cx="2552636" cy="1246287"/>
          </a:xfrm>
          <a:prstGeom prst="rect">
            <a:avLst/>
          </a:prstGeom>
          <a:solidFill>
            <a:srgbClr val="163746"/>
          </a:solidFill>
          <a:ln/>
        </p:spPr>
      </p:sp>
      <p:sp>
        <p:nvSpPr>
          <p:cNvPr id="10" name="Text 8"/>
          <p:cNvSpPr/>
          <p:nvPr/>
        </p:nvSpPr>
        <p:spPr>
          <a:xfrm>
            <a:off x="3517812" y="4266704"/>
            <a:ext cx="2298642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College Move-Outs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90815" y="4664670"/>
            <a:ext cx="255263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Furniture and small goods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48244" y="3972123"/>
            <a:ext cx="2552636" cy="1246287"/>
          </a:xfrm>
          <a:prstGeom prst="rect">
            <a:avLst/>
          </a:prstGeom>
          <a:solidFill>
            <a:srgbClr val="163746"/>
          </a:solidFill>
          <a:ln/>
        </p:spPr>
      </p:sp>
      <p:sp>
        <p:nvSpPr>
          <p:cNvPr id="13" name="Text 11"/>
          <p:cNvSpPr/>
          <p:nvPr/>
        </p:nvSpPr>
        <p:spPr>
          <a:xfrm>
            <a:off x="6375241" y="4124523"/>
            <a:ext cx="2298642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Small Businesses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5241" y="4522490"/>
            <a:ext cx="229864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Surplus inventory decisions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05672" y="3972123"/>
            <a:ext cx="2552636" cy="1246287"/>
          </a:xfrm>
          <a:prstGeom prst="rect">
            <a:avLst/>
          </a:prstGeom>
          <a:solidFill>
            <a:srgbClr val="163746"/>
          </a:solidFill>
          <a:ln/>
        </p:spPr>
      </p:sp>
      <p:sp>
        <p:nvSpPr>
          <p:cNvPr id="16" name="Text 14"/>
          <p:cNvSpPr/>
          <p:nvPr/>
        </p:nvSpPr>
        <p:spPr>
          <a:xfrm>
            <a:off x="9232669" y="4266704"/>
            <a:ext cx="2298642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NGO Triage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05672" y="4664670"/>
            <a:ext cx="255263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Sorting donated goods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5853311"/>
            <a:ext cx="12191695" cy="1004689"/>
          </a:xfrm>
          <a:prstGeom prst="rect">
            <a:avLst/>
          </a:prstGeom>
          <a:solidFill>
            <a:srgbClr val="163746"/>
          </a:solidFill>
          <a:ln/>
        </p:spPr>
      </p:sp>
      <p:sp>
        <p:nvSpPr>
          <p:cNvPr id="19" name="Text 17"/>
          <p:cNvSpPr/>
          <p:nvPr/>
        </p:nvSpPr>
        <p:spPr>
          <a:xfrm>
            <a:off x="533387" y="5954911"/>
            <a:ext cx="1165830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How might we help people make informed circular economy decisions so fewer items end up in landfill?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3387" y="6423521"/>
            <a:ext cx="11658308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Meet users at the moment they ask, “What should I do with this?”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55600"/>
            <a:ext cx="1165830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PROTOTYPE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612775"/>
            <a:ext cx="11124922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spc="-40" kern="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 lightweight stack keeps the prototype fast to extend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33387" y="1984673"/>
            <a:ext cx="11124922" cy="838299"/>
          </a:xfrm>
          <a:prstGeom prst="rect">
            <a:avLst/>
          </a:prstGeom>
          <a:solidFill>
            <a:srgbClr val="163746"/>
          </a:solidFill>
          <a:ln/>
        </p:spPr>
      </p:sp>
      <p:sp>
        <p:nvSpPr>
          <p:cNvPr id="5" name="Text 3"/>
          <p:cNvSpPr/>
          <p:nvPr/>
        </p:nvSpPr>
        <p:spPr>
          <a:xfrm>
            <a:off x="787380" y="2071985"/>
            <a:ext cx="8242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05279" y="2086273"/>
            <a:ext cx="10453029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05279" y="2343448"/>
            <a:ext cx="10199035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40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Streamlit Python web app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33387" y="2822972"/>
            <a:ext cx="11124922" cy="1268809"/>
          </a:xfrm>
          <a:prstGeom prst="rect">
            <a:avLst/>
          </a:prstGeom>
          <a:solidFill>
            <a:srgbClr val="1C5260"/>
          </a:solidFill>
          <a:ln/>
        </p:spPr>
      </p:sp>
      <p:sp>
        <p:nvSpPr>
          <p:cNvPr id="9" name="Text 7"/>
          <p:cNvSpPr/>
          <p:nvPr/>
        </p:nvSpPr>
        <p:spPr>
          <a:xfrm>
            <a:off x="787380" y="2910284"/>
            <a:ext cx="85961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40600" y="2924572"/>
            <a:ext cx="1041770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40600" y="3181747"/>
            <a:ext cx="10163714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Groq API with compound-mini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40600" y="3705721"/>
            <a:ext cx="1041770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plus a custom RAG and conversational AI pipeline.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387" y="4091781"/>
            <a:ext cx="11124922" cy="1268809"/>
          </a:xfrm>
          <a:prstGeom prst="rect">
            <a:avLst/>
          </a:prstGeom>
          <a:solidFill>
            <a:srgbClr val="0B3A48"/>
          </a:solidFill>
          <a:ln/>
        </p:spPr>
      </p:sp>
      <p:sp>
        <p:nvSpPr>
          <p:cNvPr id="14" name="Text 12"/>
          <p:cNvSpPr/>
          <p:nvPr/>
        </p:nvSpPr>
        <p:spPr>
          <a:xfrm>
            <a:off x="787380" y="4179094"/>
            <a:ext cx="86209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43081" y="4193381"/>
            <a:ext cx="1041522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43081" y="4450556"/>
            <a:ext cx="10161234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sentence-transformers all-MiniLM-L6-v2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43081" y="4974530"/>
            <a:ext cx="1041522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ChromaDB as a local persistent vector store.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3387" y="5360591"/>
            <a:ext cx="11124922" cy="1268809"/>
          </a:xfrm>
          <a:prstGeom prst="rect">
            <a:avLst/>
          </a:prstGeom>
          <a:solidFill>
            <a:srgbClr val="163746"/>
          </a:solidFill>
          <a:ln/>
        </p:spPr>
      </p:sp>
      <p:sp>
        <p:nvSpPr>
          <p:cNvPr id="19" name="Text 17"/>
          <p:cNvSpPr/>
          <p:nvPr/>
        </p:nvSpPr>
        <p:spPr>
          <a:xfrm>
            <a:off x="787380" y="5447903"/>
            <a:ext cx="87548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56475" y="5462191"/>
            <a:ext cx="10401834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KNOWLEDGE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56475" y="5719366"/>
            <a:ext cx="10147840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40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PyPDF2 and plain text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56475" y="6243340"/>
            <a:ext cx="1040183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configured with python-dotenv. No LangChain dependency.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387" y="2807097"/>
            <a:ext cx="11124922" cy="31750"/>
          </a:xfrm>
          <a:prstGeom prst="rect">
            <a:avLst/>
          </a:prstGeom>
          <a:solidFill>
            <a:srgbClr val="31515E"/>
          </a:solidFill>
          <a:ln/>
        </p:spPr>
      </p:sp>
      <p:sp>
        <p:nvSpPr>
          <p:cNvPr id="24" name="Shape 22"/>
          <p:cNvSpPr/>
          <p:nvPr/>
        </p:nvSpPr>
        <p:spPr>
          <a:xfrm>
            <a:off x="533387" y="4075906"/>
            <a:ext cx="11124922" cy="31750"/>
          </a:xfrm>
          <a:prstGeom prst="rect">
            <a:avLst/>
          </a:prstGeom>
          <a:solidFill>
            <a:srgbClr val="31515E"/>
          </a:solidFill>
          <a:ln/>
        </p:spPr>
      </p:sp>
      <p:sp>
        <p:nvSpPr>
          <p:cNvPr id="25" name="Shape 23"/>
          <p:cNvSpPr/>
          <p:nvPr/>
        </p:nvSpPr>
        <p:spPr>
          <a:xfrm>
            <a:off x="533387" y="5344716"/>
            <a:ext cx="11124922" cy="31750"/>
          </a:xfrm>
          <a:prstGeom prst="rect">
            <a:avLst/>
          </a:prstGeom>
          <a:solidFill>
            <a:srgbClr val="31515E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55600"/>
            <a:ext cx="1165830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EVIDENCE PATH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612775"/>
            <a:ext cx="11124922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spc="-40" kern="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Every recommendation follows the same evidence path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33387" y="2413000"/>
            <a:ext cx="2224925" cy="19050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2660650"/>
            <a:ext cx="2072529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783" y="2917825"/>
            <a:ext cx="1920132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User describes the item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58311" y="2413000"/>
            <a:ext cx="2595795" cy="1905000"/>
          </a:xfrm>
          <a:prstGeom prst="rect">
            <a:avLst/>
          </a:prstGeom>
          <a:solidFill>
            <a:srgbClr val="163746"/>
          </a:solidFill>
          <a:ln/>
        </p:spPr>
      </p:sp>
      <p:sp>
        <p:nvSpPr>
          <p:cNvPr id="8" name="Shape 6"/>
          <p:cNvSpPr/>
          <p:nvPr/>
        </p:nvSpPr>
        <p:spPr>
          <a:xfrm>
            <a:off x="2758311" y="2413000"/>
            <a:ext cx="2595795" cy="19050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9" name="Text 7"/>
          <p:cNvSpPr/>
          <p:nvPr/>
        </p:nvSpPr>
        <p:spPr>
          <a:xfrm>
            <a:off x="2910708" y="2660650"/>
            <a:ext cx="2443399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02 · HAZARD GATE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10708" y="2917825"/>
            <a:ext cx="2291003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Keyword check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10708" y="3347244"/>
            <a:ext cx="229100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Batteries · chemicals · electronics · other risks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54107" y="2413000"/>
            <a:ext cx="2225024" cy="19050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13" name="Text 11"/>
          <p:cNvSpPr/>
          <p:nvPr/>
        </p:nvSpPr>
        <p:spPr>
          <a:xfrm>
            <a:off x="5506503" y="2660650"/>
            <a:ext cx="207262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06503" y="2917825"/>
            <a:ext cx="1920232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Embed + match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06503" y="3347244"/>
            <a:ext cx="2072628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EB6B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ChromaDB knowledge base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79131" y="2413000"/>
            <a:ext cx="2039589" cy="19050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17" name="Text 15"/>
          <p:cNvSpPr/>
          <p:nvPr/>
        </p:nvSpPr>
        <p:spPr>
          <a:xfrm>
            <a:off x="7731527" y="2660650"/>
            <a:ext cx="188719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31527" y="2917825"/>
            <a:ext cx="1734796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Retrieve context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31527" y="3347244"/>
            <a:ext cx="1887193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EB6B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Groq language model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18720" y="2413000"/>
            <a:ext cx="2039589" cy="1905000"/>
          </a:xfrm>
          <a:prstGeom prst="rect">
            <a:avLst/>
          </a:prstGeom>
          <a:solidFill>
            <a:srgbClr val="0B3A48"/>
          </a:solidFill>
          <a:ln/>
        </p:spPr>
      </p:sp>
      <p:sp>
        <p:nvSpPr>
          <p:cNvPr id="21" name="Shape 19"/>
          <p:cNvSpPr/>
          <p:nvPr/>
        </p:nvSpPr>
        <p:spPr>
          <a:xfrm>
            <a:off x="9618720" y="2413000"/>
            <a:ext cx="2039589" cy="19050"/>
          </a:xfrm>
          <a:prstGeom prst="rect">
            <a:avLst/>
          </a:prstGeom>
          <a:solidFill>
            <a:srgbClr val="C6F05A"/>
          </a:solidFill>
          <a:ln/>
        </p:spPr>
      </p:sp>
      <p:sp>
        <p:nvSpPr>
          <p:cNvPr id="22" name="Text 20"/>
          <p:cNvSpPr/>
          <p:nvPr/>
        </p:nvSpPr>
        <p:spPr>
          <a:xfrm>
            <a:off x="9771116" y="2660650"/>
            <a:ext cx="188719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05 · OUTPUT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71116" y="2917825"/>
            <a:ext cx="1734796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Pathway + reasoning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771116" y="3630613"/>
            <a:ext cx="173479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Sources · next steps · confidence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63746"/>
          </a:solidFill>
          <a:ln/>
        </p:spPr>
      </p:sp>
      <p:sp>
        <p:nvSpPr>
          <p:cNvPr id="26" name="Text 24"/>
          <p:cNvSpPr/>
          <p:nvPr/>
        </p:nvSpPr>
        <p:spPr>
          <a:xfrm>
            <a:off x="533387" y="4749800"/>
            <a:ext cx="11658308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Knowledge areas: circular economy frameworks · e-waste · furniture · textiles · plastics · hazardous disposal.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30200"/>
            <a:ext cx="1165830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PATHWAY HIERARCHY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587375"/>
            <a:ext cx="11124922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spc="-40" kern="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 chooses the highest-value pathway that still fits the item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33387" y="1887736"/>
            <a:ext cx="5562461" cy="951706"/>
          </a:xfrm>
          <a:custGeom>
            <a:avLst/>
            <a:gdLst/>
            <a:ahLst/>
            <a:cxnLst/>
            <a:rect l="l" t="t" r="r" b="b"/>
            <a:pathLst>
              <a:path w="5562461" h="951706">
                <a:moveTo>
                  <a:pt x="9525" y="0"/>
                </a:moveTo>
                <a:lnTo>
                  <a:pt x="5562461" y="0"/>
                </a:lnTo>
                <a:lnTo>
                  <a:pt x="5562461" y="951706"/>
                </a:lnTo>
                <a:lnTo>
                  <a:pt x="0" y="951706"/>
                </a:lnTo>
                <a:lnTo>
                  <a:pt x="0" y="9525"/>
                </a:lnTo>
                <a:arcTo hR="9525" wR="9525" stAng="10800000" swAng="5400000"/>
                <a:close/>
              </a:path>
            </a:pathLst>
          </a:custGeom>
          <a:solidFill>
            <a:srgbClr val="1C5260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2087364"/>
            <a:ext cx="8242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29081" y="2065536"/>
            <a:ext cx="4788971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Reuse as-is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9081" y="2494955"/>
            <a:ext cx="4966766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Functional and ready for another user.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73643" y="2087364"/>
            <a:ext cx="85961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A988B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6863" y="2065536"/>
            <a:ext cx="475365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Repair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26863" y="2494955"/>
            <a:ext cx="493144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EB6B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Fixable damage restores value.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1182" y="3039070"/>
            <a:ext cx="86209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A988B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66883" y="3017242"/>
            <a:ext cx="4751169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Repurpose / upcycle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66883" y="3446661"/>
            <a:ext cx="492896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EB6B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old form gets a new function.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73643" y="3039070"/>
            <a:ext cx="87548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A988B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42738" y="3017242"/>
            <a:ext cx="4737775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Donate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42738" y="3446661"/>
            <a:ext cx="4915571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EB6B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Functional but unwanted items move to someone who needs them.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1182" y="3990777"/>
            <a:ext cx="86189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A988B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66684" y="3968948"/>
            <a:ext cx="4751368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Refurbish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66684" y="4398367"/>
            <a:ext cx="4929163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EB6B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Professional restoration prepares the item for resale.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73643" y="3990777"/>
            <a:ext cx="86705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A988B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34304" y="3968948"/>
            <a:ext cx="4746209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Recycle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34304" y="4398367"/>
            <a:ext cx="492400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EB6B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Materials are recoverable, but the item is not reusable.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3387" y="4742855"/>
            <a:ext cx="11124922" cy="951706"/>
          </a:xfrm>
          <a:custGeom>
            <a:avLst/>
            <a:gdLst/>
            <a:ahLst/>
            <a:cxnLst/>
            <a:rect l="l" t="t" r="r" b="b"/>
            <a:pathLst>
              <a:path w="11124922" h="951706">
                <a:moveTo>
                  <a:pt x="0" y="0"/>
                </a:moveTo>
                <a:lnTo>
                  <a:pt x="11124922" y="0"/>
                </a:lnTo>
                <a:lnTo>
                  <a:pt x="11124922" y="942181"/>
                </a:lnTo>
                <a:arcTo hR="9525" wR="9525" stAng="0" swAng="5400000"/>
                <a:lnTo>
                  <a:pt x="9525" y="951706"/>
                </a:lnTo>
                <a:arcTo hR="9525" wR="9525" stAng="5400000" swAng="5400000"/>
                <a:lnTo>
                  <a:pt x="0" y="0"/>
                </a:lnTo>
                <a:close/>
              </a:path>
            </a:pathLst>
          </a:custGeom>
          <a:solidFill>
            <a:srgbClr val="0B3A48"/>
          </a:solidFill>
          <a:ln/>
        </p:spPr>
      </p:sp>
      <p:sp>
        <p:nvSpPr>
          <p:cNvPr id="24" name="Text 22"/>
          <p:cNvSpPr/>
          <p:nvPr/>
        </p:nvSpPr>
        <p:spPr>
          <a:xfrm>
            <a:off x="711182" y="4942483"/>
            <a:ext cx="8547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9541" y="4920655"/>
            <a:ext cx="10320972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Responsible disposal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59541" y="5350073"/>
            <a:ext cx="10498768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last resort, through certified channels only.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79973" y="1887736"/>
            <a:ext cx="31749" cy="951706"/>
          </a:xfrm>
          <a:prstGeom prst="rect">
            <a:avLst/>
          </a:prstGeom>
          <a:solidFill>
            <a:srgbClr val="31515E"/>
          </a:solidFill>
          <a:ln/>
        </p:spPr>
      </p:sp>
      <p:sp>
        <p:nvSpPr>
          <p:cNvPr id="28" name="Shape 26"/>
          <p:cNvSpPr/>
          <p:nvPr/>
        </p:nvSpPr>
        <p:spPr>
          <a:xfrm>
            <a:off x="533387" y="2823567"/>
            <a:ext cx="5562461" cy="31750"/>
          </a:xfrm>
          <a:prstGeom prst="rect">
            <a:avLst/>
          </a:prstGeom>
          <a:solidFill>
            <a:srgbClr val="31515E"/>
          </a:solidFill>
          <a:ln/>
        </p:spPr>
      </p:sp>
      <p:sp>
        <p:nvSpPr>
          <p:cNvPr id="29" name="Shape 27"/>
          <p:cNvSpPr/>
          <p:nvPr/>
        </p:nvSpPr>
        <p:spPr>
          <a:xfrm>
            <a:off x="6079973" y="2839442"/>
            <a:ext cx="31749" cy="951706"/>
          </a:xfrm>
          <a:prstGeom prst="rect">
            <a:avLst/>
          </a:prstGeom>
          <a:solidFill>
            <a:srgbClr val="31515E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5848" y="2823567"/>
            <a:ext cx="5562461" cy="31750"/>
          </a:xfrm>
          <a:prstGeom prst="rect">
            <a:avLst/>
          </a:prstGeom>
          <a:solidFill>
            <a:srgbClr val="31515E"/>
          </a:solidFill>
          <a:ln/>
        </p:spPr>
      </p:sp>
      <p:sp>
        <p:nvSpPr>
          <p:cNvPr id="31" name="Shape 29"/>
          <p:cNvSpPr/>
          <p:nvPr/>
        </p:nvSpPr>
        <p:spPr>
          <a:xfrm>
            <a:off x="533387" y="3775273"/>
            <a:ext cx="5562461" cy="31750"/>
          </a:xfrm>
          <a:prstGeom prst="rect">
            <a:avLst/>
          </a:prstGeom>
          <a:solidFill>
            <a:srgbClr val="31515E"/>
          </a:solidFill>
          <a:ln/>
        </p:spPr>
      </p:sp>
      <p:sp>
        <p:nvSpPr>
          <p:cNvPr id="32" name="Shape 30"/>
          <p:cNvSpPr/>
          <p:nvPr/>
        </p:nvSpPr>
        <p:spPr>
          <a:xfrm>
            <a:off x="6079973" y="3791148"/>
            <a:ext cx="31749" cy="951706"/>
          </a:xfrm>
          <a:prstGeom prst="rect">
            <a:avLst/>
          </a:prstGeom>
          <a:solidFill>
            <a:srgbClr val="31515E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3775273"/>
            <a:ext cx="5562461" cy="31750"/>
          </a:xfrm>
          <a:prstGeom prst="rect">
            <a:avLst/>
          </a:prstGeom>
          <a:solidFill>
            <a:srgbClr val="31515E"/>
          </a:solidFill>
          <a:ln/>
        </p:spPr>
      </p:sp>
      <p:sp>
        <p:nvSpPr>
          <p:cNvPr id="34" name="Shape 32"/>
          <p:cNvSpPr/>
          <p:nvPr/>
        </p:nvSpPr>
        <p:spPr>
          <a:xfrm>
            <a:off x="533387" y="4726980"/>
            <a:ext cx="11124922" cy="31750"/>
          </a:xfrm>
          <a:prstGeom prst="rect">
            <a:avLst/>
          </a:prstGeom>
          <a:solidFill>
            <a:srgbClr val="31515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81000"/>
            <a:ext cx="1165830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SDG ALIGNMENT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638175"/>
            <a:ext cx="11124922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spc="-40" kern="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RePurpose AI turns SDG 12 into a practical everyday decision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2512715"/>
            <a:ext cx="12191695" cy="4345285"/>
          </a:xfrm>
          <a:prstGeom prst="rect">
            <a:avLst/>
          </a:prstGeom>
          <a:solidFill>
            <a:srgbClr val="163746"/>
          </a:solidFill>
          <a:ln/>
        </p:spPr>
      </p:sp>
      <p:sp>
        <p:nvSpPr>
          <p:cNvPr id="5" name="Text 3"/>
          <p:cNvSpPr/>
          <p:nvPr/>
        </p:nvSpPr>
        <p:spPr>
          <a:xfrm>
            <a:off x="533387" y="2665115"/>
            <a:ext cx="11658308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Primary: </a:t>
            </a:r>
            <a:pPr algn="l" indent="0" marL="0">
              <a:lnSpc>
                <a:spcPct val="117000"/>
              </a:lnSpc>
              <a:buNone/>
            </a:pPr>
            <a:r>
              <a:rPr lang="en-US" sz="2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SDG 12, Responsible Consumption and Production.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3387" y="3311525"/>
            <a:ext cx="11124922" cy="1273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SDG 12.5:</a:t>
            </a:r>
            <a:pPr algn="l" indent="0" marL="0">
              <a:lnSpc>
                <a:spcPct val="104000"/>
              </a:lnSpc>
              <a:spcAft>
                <a:spcPts val="1400"/>
              </a:spcAft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reduce waste through prevention, reduction, recycling, and reuse.</a:t>
            </a:r>
            <a:endParaRPr lang="en-US" sz="1900" dirty="0"/>
          </a:p>
          <a:p>
            <a:pPr algn="l" indent="0" marL="0">
              <a:lnSpc>
                <a:spcPct val="104000"/>
              </a:lnSpc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SDG 12.8:</a:t>
            </a:r>
            <a:pPr algn="l" indent="0" marL="0">
              <a:lnSpc>
                <a:spcPct val="104000"/>
              </a:lnSpc>
              <a:spcAft>
                <a:spcPts val="1400"/>
              </a:spcAft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give people information for sustainable lifestyles.</a:t>
            </a:r>
            <a:endParaRPr lang="en-US" sz="19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Secondary links:</a:t>
            </a:r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SDG 13 Climate Action, SDG 11 Sustainable Cities, and SDG 9 Industry and Innovation.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30200"/>
            <a:ext cx="11658308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86" kern="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ASSURANCE LEDGER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3387" y="578743"/>
            <a:ext cx="11124922" cy="196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750" spc="-48" kern="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prototype is designed to be useful, grounded, and extensible</a:t>
            </a:r>
            <a:endParaRPr lang="en-US" sz="4750" dirty="0"/>
          </a:p>
        </p:txBody>
      </p:sp>
      <p:sp>
        <p:nvSpPr>
          <p:cNvPr id="4" name="Text 2"/>
          <p:cNvSpPr/>
          <p:nvPr/>
        </p:nvSpPr>
        <p:spPr>
          <a:xfrm>
            <a:off x="533387" y="2736155"/>
            <a:ext cx="11124922" cy="722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endParaRPr lang="en-US" sz="15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87" y="2796480"/>
          <a:ext cx="9143771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7314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        </a:t>
                      </a:r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               Control</a:t>
                      </a: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                    </a:t>
                      </a:r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                                  What it does</a:t>
                      </a: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                  Evidence</a:t>
                      </a: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</a:tr>
              <a:tr h="7314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Grounded</a:t>
                      </a: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Every recommendation cites sustainability documents.</a:t>
                      </a: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Curated knowledge base</a:t>
                      </a: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</a:tr>
              <a:tr h="4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Hazard-aware</a:t>
                      </a: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Safety warnings appear before ordinary reuse advice.</a:t>
                      </a: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Hazard keyword check</a:t>
                      </a: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</a:tr>
              <a:tr h="7314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Hierarchy-enforced</a:t>
                      </a: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The model is instructed to prefer higher-value circular options.</a:t>
                      </a: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Pathway hierarchy</a:t>
                      </a: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</a:tr>
              <a:tr h="4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Multi-turn</a:t>
                      </a: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Users can ask follow-up questions in the same session.</a:t>
                      </a: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Conversational AI pipeline</a:t>
                      </a: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</a:tr>
              <a:tr h="4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Lightweight</a:t>
                      </a: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The app runs locally without cloud infrastructure.</a:t>
                      </a: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Streamlit Python web app</a:t>
                      </a: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</a:tr>
              <a:tr h="725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Extensible</a:t>
                      </a: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Adding documents to the knowledge base expands the system after re-ingestion.</a:t>
                      </a: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Six manually curated documents</a:t>
                      </a: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8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04800"/>
            <a:ext cx="5562461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561975"/>
            <a:ext cx="5029074" cy="274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spc="-40" kern="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next step is moving from text-only guidance to local action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33387" y="3508077"/>
            <a:ext cx="2514537" cy="3146723"/>
          </a:xfrm>
          <a:custGeom>
            <a:avLst/>
            <a:gdLst/>
            <a:ahLst/>
            <a:cxnLst/>
            <a:rect l="l" t="t" r="r" b="b"/>
            <a:pathLst>
              <a:path w="2514537" h="3146723">
                <a:moveTo>
                  <a:pt x="9525" y="0"/>
                </a:moveTo>
                <a:lnTo>
                  <a:pt x="2514537" y="0"/>
                </a:lnTo>
                <a:lnTo>
                  <a:pt x="2514537" y="3146723"/>
                </a:lnTo>
                <a:lnTo>
                  <a:pt x="9525" y="3146723"/>
                </a:lnTo>
                <a:arcTo hR="9525" wR="9525" stAng="5400000" swAng="5400000"/>
                <a:lnTo>
                  <a:pt x="0" y="9525"/>
                </a:lnTo>
                <a:arcTo hR="9525" wR="9525" stAng="10800000" swAng="5400000"/>
                <a:close/>
              </a:path>
            </a:pathLst>
          </a:custGeom>
          <a:solidFill>
            <a:srgbClr val="163746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3685877"/>
            <a:ext cx="228594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1981" y="3943052"/>
            <a:ext cx="2057349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40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Text-only guidance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1981" y="4844951"/>
            <a:ext cx="2057349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Static knowledge base · text-only input · no location awareness.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1981" y="5818981"/>
            <a:ext cx="205734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Dependency on API availability and free-tier rate limits.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47924" y="3508077"/>
            <a:ext cx="2514537" cy="3146723"/>
          </a:xfrm>
          <a:custGeom>
            <a:avLst/>
            <a:gdLst/>
            <a:ahLst/>
            <a:cxnLst/>
            <a:rect l="l" t="t" r="r" b="b"/>
            <a:pathLst>
              <a:path w="2514537" h="3146723">
                <a:moveTo>
                  <a:pt x="0" y="0"/>
                </a:moveTo>
                <a:lnTo>
                  <a:pt x="2505012" y="0"/>
                </a:lnTo>
                <a:arcTo hR="9525" wR="9525" stAng="16200000" swAng="5400000"/>
                <a:lnTo>
                  <a:pt x="2514537" y="3137198"/>
                </a:lnTo>
                <a:arcTo hR="9525" wR="9525" stAng="0" swAng="5400000"/>
                <a:lnTo>
                  <a:pt x="0" y="3146723"/>
                </a:lnTo>
                <a:lnTo>
                  <a:pt x="0" y="0"/>
                </a:lnTo>
                <a:close/>
              </a:path>
            </a:pathLst>
          </a:custGeom>
          <a:solidFill>
            <a:srgbClr val="1C5260"/>
          </a:solidFill>
          <a:ln/>
        </p:spPr>
      </p:sp>
      <p:sp>
        <p:nvSpPr>
          <p:cNvPr id="10" name="Text 8"/>
          <p:cNvSpPr/>
          <p:nvPr/>
        </p:nvSpPr>
        <p:spPr>
          <a:xfrm>
            <a:off x="3276518" y="3685877"/>
            <a:ext cx="228594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NEXT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76518" y="3943052"/>
            <a:ext cx="2057349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Local action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76518" y="4467027"/>
            <a:ext cx="2057349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Image upload · location-aware recommendations · multilingual support.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76518" y="5725517"/>
            <a:ext cx="205734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Impact dashboard · scheduled knowledge-base updates.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163746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234" y="228600"/>
            <a:ext cx="5562461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BUILD TIMELINE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29234" y="485775"/>
            <a:ext cx="5029074" cy="219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spc="-32" kern="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Two AI tools accelerated the build; curated knowledge kept it accountable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234" y="2883198"/>
            <a:ext cx="2514537" cy="19050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18" name="Text 16"/>
          <p:cNvSpPr/>
          <p:nvPr/>
        </p:nvSpPr>
        <p:spPr>
          <a:xfrm>
            <a:off x="6832429" y="3040360"/>
            <a:ext cx="8242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A988B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50328" y="3054648"/>
            <a:ext cx="189344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PROBLEM FRAMING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50328" y="3311823"/>
            <a:ext cx="1690248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IBM Bob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50328" y="3741241"/>
            <a:ext cx="1690248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Ideation · How Might We · SDG alignment · solution architecture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3771" y="2883198"/>
            <a:ext cx="2514537" cy="19050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23" name="Text 21"/>
          <p:cNvSpPr/>
          <p:nvPr/>
        </p:nvSpPr>
        <p:spPr>
          <a:xfrm>
            <a:off x="9346966" y="3040360"/>
            <a:ext cx="85961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A988B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00186" y="3054648"/>
            <a:ext cx="1858122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00186" y="3311823"/>
            <a:ext cx="1654927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Kiro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800186" y="3741241"/>
            <a:ext cx="1654927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Architecture · coding · debugging · end-to-end deployment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29234" y="4718149"/>
            <a:ext cx="5029074" cy="19050"/>
          </a:xfrm>
          <a:prstGeom prst="rect">
            <a:avLst/>
          </a:prstGeom>
          <a:solidFill>
            <a:srgbClr val="C6F05A"/>
          </a:solidFill>
          <a:ln/>
        </p:spPr>
      </p:sp>
      <p:sp>
        <p:nvSpPr>
          <p:cNvPr id="28" name="Text 26"/>
          <p:cNvSpPr/>
          <p:nvPr/>
        </p:nvSpPr>
        <p:spPr>
          <a:xfrm>
            <a:off x="6832429" y="4875312"/>
            <a:ext cx="86209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A988B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88129" y="4889599"/>
            <a:ext cx="4370179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KNOWLEDGE BASE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88129" y="5146774"/>
            <a:ext cx="4166984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Grounded prototype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288129" y="5576193"/>
            <a:ext cx="41669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Six manually curated documents covering circular economy, e-waste, furniture, textiles, plastics, and hazardous disposal.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032049" y="3508077"/>
            <a:ext cx="31749" cy="3146723"/>
          </a:xfrm>
          <a:prstGeom prst="rect">
            <a:avLst/>
          </a:prstGeom>
          <a:solidFill>
            <a:srgbClr val="31515E"/>
          </a:solidFill>
          <a:ln/>
        </p:spPr>
      </p:sp>
      <p:sp>
        <p:nvSpPr>
          <p:cNvPr id="33" name="Shape 31"/>
          <p:cNvSpPr/>
          <p:nvPr/>
        </p:nvSpPr>
        <p:spPr>
          <a:xfrm>
            <a:off x="9127897" y="2883198"/>
            <a:ext cx="31749" cy="1834952"/>
          </a:xfrm>
          <a:prstGeom prst="rect">
            <a:avLst/>
          </a:prstGeom>
          <a:solidFill>
            <a:srgbClr val="31515E"/>
          </a:solidFill>
          <a:ln/>
        </p:spPr>
      </p:sp>
      <p:sp>
        <p:nvSpPr>
          <p:cNvPr id="34" name="Shape 32"/>
          <p:cNvSpPr/>
          <p:nvPr/>
        </p:nvSpPr>
        <p:spPr>
          <a:xfrm>
            <a:off x="6629234" y="4702274"/>
            <a:ext cx="5029074" cy="31750"/>
          </a:xfrm>
          <a:prstGeom prst="rect">
            <a:avLst/>
          </a:prstGeom>
          <a:solidFill>
            <a:srgbClr val="31515E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9776" y="1226741"/>
            <a:ext cx="1092172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9776" y="1483916"/>
            <a:ext cx="10312142" cy="202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Make circular economy decisions accessible to everyone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939776" y="3757116"/>
            <a:ext cx="3402920" cy="31651"/>
          </a:xfrm>
          <a:prstGeom prst="roundRect">
            <a:avLst>
              <a:gd name="adj" fmla="val 49998"/>
            </a:avLst>
          </a:prstGeom>
          <a:solidFill>
            <a:srgbClr val="43D4C3"/>
          </a:solidFill>
          <a:ln/>
        </p:spPr>
      </p:sp>
      <p:sp>
        <p:nvSpPr>
          <p:cNvPr id="5" name="Text 3"/>
          <p:cNvSpPr/>
          <p:nvPr/>
        </p:nvSpPr>
        <p:spPr>
          <a:xfrm>
            <a:off x="939776" y="4022229"/>
            <a:ext cx="10312142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RePurpose AI helps people move from “throw it away” to a safer, higher-value next action.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39776" y="5059660"/>
            <a:ext cx="1031214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9EB6B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GitHub: github.com/varshapadmanaban05/AI-Internship-on-sustainability</a:t>
            </a:r>
            <a:endParaRPr lang="en-US" sz="17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9EB6B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Built with IBM Bob and Kiro · 1M1B · IBM SkillsBuild internship · SDG 12.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2026-09-18T14:59:24Z</dcterms:created>
  <dcterms:modified xsi:type="dcterms:W3CDTF">2026-09-18T14:59:24Z</dcterms:modified>
</cp:coreProperties>
</file>